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tup" id="{df092306-cf04-1653-3356-5490b62e73e6}">
          <p14:sldIdLst>
            <p14:sldId id="256"/>
            <p14:sldId id="257"/>
          </p14:sldIdLst>
        </p14:section>
        <p14:section name="Method" id="{47a493e1-fa02-a405-6ed4-63a737153a50}">
          <p14:sldIdLst>
            <p14:sldId id="258"/>
            <p14:sldId id="259"/>
            <p14:sldId id="260"/>
          </p14:sldIdLst>
        </p14:section>
        <p14:section name="Results" id="{53801f17-432a-f19b-250f-d6900a9cbbee}">
          <p14:sldIdLst>
            <p14:sldId id="261"/>
            <p14:sldId id="262"/>
            <p14:sldId id="263"/>
            <p14:sldId id="264"/>
          </p14:sldIdLst>
        </p14:section>
        <p14:section name="Wrap-up" id="{f42e97fd-771a-ea5a-19fb-83d8f19c4ac8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8"/>
                </a:solidFill>
                <a:latin typeface="+mn-lt"/>
              </a:rPr>
              <a:t>Subjects labelled present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Present</c:v>
                </c:pt>
              </c:strCache>
            </c:strRef>
          </c:tx>
          <c:spPr>
            <a:solidFill>
              <a:srgbClr val="5B6B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B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7FD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Raw</c:v>
                  </c:pt>
                  <c:pt idx="1">
                    <c:v>CAR</c:v>
                  </c:pt>
                  <c:pt idx="2">
                    <c:v>Laplacian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16</c:v>
                </c:pt>
                <c:pt idx="2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D5D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8"/>
                </a:solidFill>
                <a:latin typeface="+mn-lt"/>
              </a:rPr>
              <a:t>Mean LI over 40 subjects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μ</c:v>
                </c:pt>
              </c:strCache>
            </c:strRef>
          </c:tx>
          <c:spPr>
            <a:solidFill>
              <a:srgbClr val="2F7FD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Raw</c:v>
                  </c:pt>
                  <c:pt idx="1">
                    <c:v>CAR</c:v>
                  </c:pt>
                  <c:pt idx="2">
                    <c:v>Laplacian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0.15</c:v>
                </c:pt>
                <c:pt idx="1">
                  <c:v>0.19</c:v>
                </c:pt>
                <c:pt idx="2">
                  <c:v>0.26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β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Raw</c:v>
                  </c:pt>
                  <c:pt idx="1">
                    <c:v>CAR</c:v>
                  </c:pt>
                  <c:pt idx="2">
                    <c:v>Laplacian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0.21</c:v>
                </c:pt>
                <c:pt idx="1">
                  <c:v>0.29</c:v>
                </c:pt>
                <c:pt idx="2">
                  <c:v>0.32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5DBE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A2 asks whether the brain signal we expect from motor imagery is really there, per subject. Left-fist imagery should lower 8-30 Hz power over the right motor cortex (C4); right-fist imagery over the left (C3).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deliverables of A2 on the left; the physiology we are testing for on the right. ERD = event-related desynchronisation.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Decisions D5 (baseline and window), D4 (reference). The first 0.5 s after the cue is skipped to avoid the cue-evoked visual response and the ERD onset lag. About 45 trials per subject.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D4. Raw C3-C4 would keep reference leakage. CAR also cancels common terms but spreads frontal and ocular artefact everywhere. The Laplacian is local and its weights sum to zero. Present counts: raw 12, Laplacian 14, CAR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D6. One-sided because physiology predicts the direction; a two-sided test would also count wrong-direction asymmetries. The contralateral-desynchronisation condition blocks a 'present' label from a synchronisation-only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the Laplacian: 10 subjects pass the mu test and 13 pass beta individually (p &lt; 0.025); 14 are labelled present once the contralateral-drop condition is applied to either band. Counts by reference: raw 12, CAR 16, Laplacian 14. Source: outputs/a2_all_references.csv.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Rows: S72, S102, S93. Columns: left imagery C3, left imagery C4, right imagery C3, right imagery C4. Time axis is -1.5 to 4.0 s, 6-30 Hz. Full-size figure: outputs/a2_examples_3present_3absent.png.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Rows: S99, S87, S101, selected as the absent subjects with the highest minimum p across the two bands. Artefact rejection is not applied (decision D7).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 = (ipsi - contra) / (|ipsi| + |contra|). When ipsi is positive and contra negative the ratio equals exactly 1, so LI = 1 is not a perfect effect: it flags ipsilateral synchronisation. The label itself is driven by the permutation test, not by 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says to predict which non-motor route is decodable before running A3, and the project rules say predictions are Keyen's own words. No A3 test has been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960120"/>
            <a:ext cx="47548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280160"/>
            <a:ext cx="47548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2834640"/>
            <a:ext cx="4572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3931920"/>
            <a:ext cx="47548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A2 · Physiological ground truth · Task 1, Part 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body" hasCustomPrompt="1"/>
          </p:nvPr>
        </p:nvSpPr>
        <p:spPr>
          <a:xfrm>
            <a:off x="548640" y="960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TASK 1 · PART 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12801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A2: Physiological ground truth</a:t>
            </a:r>
            <a:endParaRPr lang="en-US" sz="4000" dirty="0"/>
          </a:p>
        </p:txBody>
      </p:sp>
      <p:sp>
        <p:nvSpPr>
          <p:cNvPr id="4" name="Text 1"/>
          <p:cNvSpPr txBox="1"/>
          <p:nvPr>
            <p:ph idx="103" type="body" hasCustomPrompt="1"/>
          </p:nvPr>
        </p:nvSpPr>
        <p:spPr>
          <a:xfrm>
            <a:off x="548640" y="2834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Is lateralised mu/beta ERD actually in the signal, subject by subject?</a:t>
            </a:r>
            <a:endParaRPr lang="en-US" sz="1800" dirty="0"/>
          </a:p>
        </p:txBody>
      </p:sp>
      <p:sp>
        <p:nvSpPr>
          <p:cNvPr id="5" name="Text 1"/>
          <p:cNvSpPr txBox="1"/>
          <p:nvPr>
            <p:ph idx="104" type="body" hasCustomPrompt="1"/>
          </p:nvPr>
        </p:nvSpPr>
        <p:spPr>
          <a:xfrm>
            <a:off x="548640" y="3931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40 subjects (S070–S109) · imagined left vs right fist · runs 4, 8, 12</a:t>
            </a:r>
            <a:endParaRPr lang="en-US" sz="1400" dirty="0"/>
          </a:p>
        </p:txBody>
      </p:sp>
      <p:sp>
        <p:nvSpPr>
          <p:cNvPr id="6" name="Head outline"/>
          <p:cNvSpPr/>
          <p:nvPr/>
        </p:nvSpPr>
        <p:spPr>
          <a:xfrm>
            <a:off x="5532120" y="1097280"/>
            <a:ext cx="3017520" cy="3017520"/>
          </a:xfrm>
          <a:prstGeom prst="ellipse">
            <a:avLst/>
          </a:prstGeom>
          <a:ln w="25400">
            <a:solidFill>
              <a:schemeClr val="accent6"/>
            </a:solidFill>
            <a:prstDash val="solid"/>
          </a:ln>
        </p:spPr>
      </p:sp>
      <p:sp>
        <p:nvSpPr>
          <p:cNvPr id="7" name="C3 electrode"/>
          <p:cNvSpPr/>
          <p:nvPr/>
        </p:nvSpPr>
        <p:spPr>
          <a:xfrm>
            <a:off x="5943600" y="2331720"/>
            <a:ext cx="502920" cy="5029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C4 electrode"/>
          <p:cNvSpPr/>
          <p:nvPr/>
        </p:nvSpPr>
        <p:spPr>
          <a:xfrm>
            <a:off x="7635240" y="2331720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0" y="2880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2880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C4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4206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Imagine the left fist: power drops at C4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A2 asks</a:t>
            </a:r>
            <a:endParaRPr lang="en-US" sz="3600" dirty="0"/>
          </a:p>
        </p:txBody>
      </p:sp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Imagining a fist should quiet the opposite motor cortex</a:t>
            </a:r>
            <a:endParaRPr lang="en-US" sz="1600" dirty="0"/>
          </a:p>
        </p:txBody>
      </p:sp>
      <p:sp>
        <p:nvSpPr>
          <p:cNvPr id="4" name="Step 1 badge"/>
          <p:cNvSpPr/>
          <p:nvPr/>
        </p:nvSpPr>
        <p:spPr>
          <a:xfrm>
            <a:off x="457200" y="16002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57276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Power at C3, C4 and neighbours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around the cue, against a baseline we justify</a:t>
            </a:r>
            <a:endParaRPr lang="en-US" sz="1400" dirty="0"/>
          </a:p>
        </p:txBody>
      </p:sp>
      <p:sp>
        <p:nvSpPr>
          <p:cNvPr id="7" name="Step 2 badge"/>
          <p:cNvSpPr/>
          <p:nvPr/>
        </p:nvSpPr>
        <p:spPr>
          <a:xfrm>
            <a:off x="457200" y="23317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042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Reference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explain the unknown reference, then choose a filter</a:t>
            </a:r>
            <a:endParaRPr lang="en-US" sz="1400" dirty="0"/>
          </a:p>
        </p:txBody>
      </p:sp>
      <p:sp>
        <p:nvSpPr>
          <p:cNvPr id="10" name="Step 3 badge"/>
          <p:cNvSpPr/>
          <p:nvPr/>
        </p:nvSpPr>
        <p:spPr>
          <a:xfrm>
            <a:off x="457200" y="3063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0358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Lateralisation index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 and beta, each with a single-subject test</a:t>
            </a:r>
            <a:endParaRPr lang="en-US" sz="1400" dirty="0"/>
          </a:p>
        </p:txBody>
      </p:sp>
      <p:sp>
        <p:nvSpPr>
          <p:cNvPr id="13" name="Step 4 badge"/>
          <p:cNvSpPr/>
          <p:nvPr/>
        </p:nvSpPr>
        <p:spPr>
          <a:xfrm>
            <a:off x="457200" y="3794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7673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Label and show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present or absent for all 40, show 3 of each</a:t>
            </a:r>
            <a:endParaRPr lang="en-US" sz="1400" dirty="0"/>
          </a:p>
        </p:txBody>
      </p:sp>
      <p:sp>
        <p:nvSpPr>
          <p:cNvPr id="16" name="Expected pattern panel"/>
          <p:cNvSpPr/>
          <p:nvPr/>
        </p:nvSpPr>
        <p:spPr>
          <a:xfrm>
            <a:off x="5257800" y="1600200"/>
            <a:ext cx="3429000" cy="288036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0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Expected pattern</a:t>
            </a:r>
            <a:endParaRPr lang="en-US" sz="1600" dirty="0"/>
          </a:p>
        </p:txBody>
      </p:sp>
      <p:sp>
        <p:nvSpPr>
          <p:cNvPr id="18" name="LEFT fist pill"/>
          <p:cNvSpPr/>
          <p:nvPr/>
        </p:nvSpPr>
        <p:spPr>
          <a:xfrm>
            <a:off x="5486400" y="2240280"/>
            <a:ext cx="123444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0" y="22402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LEFT fist</a:t>
            </a:r>
            <a:endParaRPr lang="en-US" sz="1400" dirty="0"/>
          </a:p>
        </p:txBody>
      </p:sp>
      <p:sp>
        <p:nvSpPr>
          <p:cNvPr id="20" name="LEFT fist arrow"/>
          <p:cNvSpPr/>
          <p:nvPr/>
        </p:nvSpPr>
        <p:spPr>
          <a:xfrm>
            <a:off x="6858000" y="2304288"/>
            <a:ext cx="45720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1" name="C4 target"/>
          <p:cNvSpPr/>
          <p:nvPr/>
        </p:nvSpPr>
        <p:spPr>
          <a:xfrm>
            <a:off x="7452360" y="2240280"/>
            <a:ext cx="91440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52360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C4 drops</a:t>
            </a:r>
            <a:endParaRPr lang="en-US" sz="1400" dirty="0"/>
          </a:p>
        </p:txBody>
      </p:sp>
      <p:sp>
        <p:nvSpPr>
          <p:cNvPr id="23" name="RIGHT fist pill"/>
          <p:cNvSpPr/>
          <p:nvPr/>
        </p:nvSpPr>
        <p:spPr>
          <a:xfrm>
            <a:off x="5486400" y="2880360"/>
            <a:ext cx="123444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0" y="28803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RIGHT fist</a:t>
            </a:r>
            <a:endParaRPr lang="en-US" sz="1400" dirty="0"/>
          </a:p>
        </p:txBody>
      </p:sp>
      <p:sp>
        <p:nvSpPr>
          <p:cNvPr id="25" name="RIGHT fist arrow"/>
          <p:cNvSpPr/>
          <p:nvPr/>
        </p:nvSpPr>
        <p:spPr>
          <a:xfrm>
            <a:off x="6858000" y="2944368"/>
            <a:ext cx="45720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6" name="C3 target"/>
          <p:cNvSpPr/>
          <p:nvPr/>
        </p:nvSpPr>
        <p:spPr>
          <a:xfrm>
            <a:off x="7452360" y="2880360"/>
            <a:ext cx="91440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52360" y="2880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C3 drops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hand is driven by the opposite hemisphere. The drop is ERD, measured in dB against rest.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it was computed</a:t>
            </a:r>
            <a:endParaRPr lang="en-US" sz="3600" dirty="0"/>
          </a:p>
        </p:txBody>
      </p:sp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same pipeline for all 40 subjects</a:t>
            </a:r>
            <a:endParaRPr lang="en-US" sz="1600" dirty="0"/>
          </a:p>
        </p:txBody>
      </p:sp>
      <p:sp>
        <p:nvSpPr>
          <p:cNvPr id="4" name="Step 1 card"/>
          <p:cNvSpPr/>
          <p:nvPr/>
        </p:nvSpPr>
        <p:spPr>
          <a:xfrm>
            <a:off x="457200" y="155448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  Epoch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116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1–40 Hz filter, −1.5 to 4.0 s around each cue</a:t>
            </a:r>
            <a:endParaRPr lang="en-US" sz="1400" dirty="0"/>
          </a:p>
        </p:txBody>
      </p:sp>
      <p:sp>
        <p:nvSpPr>
          <p:cNvPr id="7" name="Step 2 card"/>
          <p:cNvSpPr/>
          <p:nvPr/>
        </p:nvSpPr>
        <p:spPr>
          <a:xfrm>
            <a:off x="2560320" y="155448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97480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  Re-reference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0116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Laplacian: C3, C4 minus mean of 4 nearest electrodes</a:t>
            </a:r>
            <a:endParaRPr lang="en-US" sz="1400" dirty="0"/>
          </a:p>
        </p:txBody>
      </p:sp>
      <p:sp>
        <p:nvSpPr>
          <p:cNvPr id="10" name="Step 3 card"/>
          <p:cNvSpPr/>
          <p:nvPr/>
        </p:nvSpPr>
        <p:spPr>
          <a:xfrm>
            <a:off x="4663440" y="155448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  Wavelet power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0116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Morlet 6–30 Hz, f/2 cycles; ERD in dB per trial</a:t>
            </a:r>
            <a:endParaRPr lang="en-US" sz="1400" dirty="0"/>
          </a:p>
        </p:txBody>
      </p:sp>
      <p:sp>
        <p:nvSpPr>
          <p:cNvPr id="13" name="Step 4 card"/>
          <p:cNvSpPr/>
          <p:nvPr/>
        </p:nvSpPr>
        <p:spPr>
          <a:xfrm>
            <a:off x="6766560" y="155448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03720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  Test and label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0116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Permutation test on C3−C4, LI, present or absent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Time around the cue</a:t>
            </a:r>
            <a:endParaRPr lang="en-US" sz="1200" dirty="0"/>
          </a:p>
        </p:txBody>
      </p:sp>
      <p:sp>
        <p:nvSpPr>
          <p:cNvPr id="17" name="Baseline window"/>
          <p:cNvSpPr/>
          <p:nvPr/>
        </p:nvSpPr>
        <p:spPr>
          <a:xfrm>
            <a:off x="1205345" y="3749040"/>
            <a:ext cx="1346662" cy="4572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05345" y="3749040"/>
            <a:ext cx="13466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baseline</a:t>
            </a:r>
            <a:endParaRPr lang="en-US" sz="1400" dirty="0"/>
          </a:p>
        </p:txBody>
      </p:sp>
      <p:sp>
        <p:nvSpPr>
          <p:cNvPr id="19" name="Skipped window"/>
          <p:cNvSpPr/>
          <p:nvPr/>
        </p:nvSpPr>
        <p:spPr>
          <a:xfrm>
            <a:off x="2701636" y="3749040"/>
            <a:ext cx="748145" cy="457200"/>
          </a:xfrm>
          <a:prstGeom prst="rect">
            <a:avLst/>
          </a:prstGeom>
          <a:solidFill>
            <a:schemeClr val="accent6">
              <a:alpha val="45000"/>
            </a:scheme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701636" y="3749040"/>
            <a:ext cx="7481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skip</a:t>
            </a:r>
            <a:endParaRPr lang="en-US" sz="1400" dirty="0"/>
          </a:p>
        </p:txBody>
      </p:sp>
      <p:sp>
        <p:nvSpPr>
          <p:cNvPr id="21" name="Active window"/>
          <p:cNvSpPr/>
          <p:nvPr/>
        </p:nvSpPr>
        <p:spPr>
          <a:xfrm>
            <a:off x="3449782" y="3749040"/>
            <a:ext cx="5237018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49782" y="3749040"/>
            <a:ext cx="523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active window, 0.5–4.0 s</a:t>
            </a:r>
            <a:endParaRPr lang="en-US" sz="1400" dirty="0"/>
          </a:p>
        </p:txBody>
      </p:sp>
      <p:sp>
        <p:nvSpPr>
          <p:cNvPr id="23" name="Cue marker"/>
          <p:cNvSpPr/>
          <p:nvPr/>
        </p:nvSpPr>
        <p:spPr>
          <a:xfrm>
            <a:off x="2701636" y="3639312"/>
            <a:ext cx="0" cy="676656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335876" y="34198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cue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297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−1.5 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4297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4.0 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737360" y="42976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Baseline is pooled over trials per subject and band, blind to class label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Choosing a reference</a:t>
            </a:r>
            <a:endParaRPr lang="en-US" sz="3600" dirty="0"/>
          </a:p>
        </p:txBody>
      </p:sp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recording reference is undocumented, so we filter its influence out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channel contains the reference signal. It is shared by C3 and C4, but its own activity and its distance to each site differ, and a lateral reference such as a mastoid would bias one hemisphere.</a:t>
            </a:r>
            <a:endParaRPr lang="en-US" sz="1600" dirty="0"/>
          </a:p>
        </p:txBody>
      </p:sp>
      <p:sp>
        <p:nvSpPr>
          <p:cNvPr id="5" name="Chosen callout"/>
          <p:cNvSpPr/>
          <p:nvPr/>
        </p:nvSpPr>
        <p:spPr>
          <a:xfrm>
            <a:off x="457200" y="3557016"/>
            <a:ext cx="365760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6301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Chosen on principle: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Laplacian. Mean μ LI (.26 vs .19 CAR, .15 raw) was only a check.</a:t>
            </a:r>
            <a:endParaRPr lang="en-US" sz="1400" dirty="0"/>
          </a:p>
        </p:txBody>
      </p:sp>
      <p:sp>
        <p:nvSpPr>
          <p:cNvPr id="7" name="Raw row"/>
          <p:cNvSpPr/>
          <p:nvPr/>
        </p:nvSpPr>
        <p:spPr>
          <a:xfrm>
            <a:off x="4389120" y="1600200"/>
            <a:ext cx="4297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67335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Reference leakage stays in the signal.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16733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21762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present</a:t>
            </a:r>
            <a:endParaRPr lang="en-US" sz="1200" dirty="0"/>
          </a:p>
        </p:txBody>
      </p:sp>
      <p:sp>
        <p:nvSpPr>
          <p:cNvPr id="11" name="CAR row"/>
          <p:cNvSpPr/>
          <p:nvPr/>
        </p:nvSpPr>
        <p:spPr>
          <a:xfrm>
            <a:off x="4389120" y="2578608"/>
            <a:ext cx="4297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265176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Cancels shared terms, but smears artefacts over all channels.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651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16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3154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present</a:t>
            </a:r>
            <a:endParaRPr lang="en-US" sz="1200" dirty="0"/>
          </a:p>
        </p:txBody>
      </p:sp>
      <p:sp>
        <p:nvSpPr>
          <p:cNvPr id="15" name="Laplacian row"/>
          <p:cNvSpPr/>
          <p:nvPr/>
        </p:nvSpPr>
        <p:spPr>
          <a:xfrm>
            <a:off x="4389120" y="3557016"/>
            <a:ext cx="4297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363016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Laplacian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Weights sum to zero, so shared terms cancel; stays local.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36301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4133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present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Index and test</a:t>
            </a:r>
            <a:endParaRPr lang="en-US" sz="3600" dirty="0"/>
          </a:p>
        </p:txBody>
      </p:sp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One number per band, one p-value, one label</a:t>
            </a:r>
            <a:endParaRPr lang="en-US" sz="1600" dirty="0"/>
          </a:p>
        </p:txBody>
      </p:sp>
      <p:sp>
        <p:nvSpPr>
          <p:cNvPr id="4" name="ERD PER TRIAL card"/>
          <p:cNvSpPr/>
          <p:nvPr/>
        </p:nvSpPr>
        <p:spPr>
          <a:xfrm>
            <a:off x="457200" y="1554480"/>
            <a:ext cx="49377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ERD PER TRIAL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56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ERD = 10 · log10( P_active / P_baseline )  dB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579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Negative means power fell relative to rest</a:t>
            </a:r>
            <a:endParaRPr lang="en-US" sz="1200" dirty="0"/>
          </a:p>
        </p:txBody>
      </p:sp>
      <p:sp>
        <p:nvSpPr>
          <p:cNvPr id="8" name="LATERALISATION INDEX card"/>
          <p:cNvSpPr/>
          <p:nvPr/>
        </p:nvSpPr>
        <p:spPr>
          <a:xfrm>
            <a:off x="457200" y="2578608"/>
            <a:ext cx="49377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700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LATERALISATION INDEX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 = (ipsi − contra) / (|ipsi| + |contra|)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821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Above 0: the contralateral side desynchronises more</a:t>
            </a:r>
            <a:endParaRPr lang="en-US" sz="1200" dirty="0"/>
          </a:p>
        </p:txBody>
      </p:sp>
      <p:sp>
        <p:nvSpPr>
          <p:cNvPr id="12" name="TEST STATISTIC card"/>
          <p:cNvSpPr/>
          <p:nvPr/>
        </p:nvSpPr>
        <p:spPr>
          <a:xfrm>
            <a:off x="457200" y="3602736"/>
            <a:ext cx="49377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9417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TEST STATISTIC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04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 = mean(C3−C4 | left) − mean(C3−C4 | right)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06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Large positive T: contralateral ERD, as predicted</a:t>
            </a:r>
            <a:endParaRPr lang="en-US" sz="1200" dirty="0"/>
          </a:p>
        </p:txBody>
      </p:sp>
      <p:sp>
        <p:nvSpPr>
          <p:cNvPr id="16" name="Label rule panel"/>
          <p:cNvSpPr/>
          <p:nvPr/>
        </p:nvSpPr>
        <p:spPr>
          <a:xfrm>
            <a:off x="5623560" y="1554480"/>
            <a:ext cx="3063240" cy="2962656"/>
          </a:xfrm>
          <a:prstGeom prst="roundRect">
            <a:avLst>
              <a:gd name="adj" fmla="val 2469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5216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Label rule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20574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present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 if both hold: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min(μ p, β p) &lt; 0.025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contralateral ERD &lt; 0 dB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Otherwise absent.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33832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One-sided label permutation, 10,000 shuffles, seed = subject ID. 0.05 is split across the 2 bands.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14 of 40 subjects</a:t>
            </a:r>
            <a:endParaRPr lang="en-US" sz="3600" dirty="0"/>
          </a:p>
        </p:txBody>
      </p:sp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Lateralised ERD is present in 14 subjects; the reference shifts that by ±2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23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present (Laplacian)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26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absent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514600" y="1508760"/>
          <a:ext cx="3017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5669280" y="1508760"/>
          <a:ext cx="3017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Present: three examples</a:t>
            </a:r>
            <a:endParaRPr lang="en-US" sz="3600" dirty="0"/>
          </a:p>
        </p:txBody>
      </p:sp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Power falls over the opposite hemisphere (blue), as predicted</a:t>
            </a:r>
            <a:endParaRPr lang="en-US" sz="1600" dirty="0"/>
          </a:p>
        </p:txBody>
      </p:sp>
      <p:pic>
        <p:nvPicPr>
          <p:cNvPr id="4" name="Present examples" descr="Time-frequency maps of subjects S72, S102 and S93 at C3 and C4 for left and right image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4846320" cy="297785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32120" y="15544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Blue = power drop, red = rise, black line = cue. Left imagery should be blue at C4, right imagery at C3.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532120" y="251460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S72: μ −8.6 dB contra vs −2.7 ipsi, p &lt; 0.001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S93: μ −2.8 vs −0.8 dB, p &lt; 0.001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S102: drops on both sides; passes on β (p &lt; 0.001), μ LI only 0.06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532120" y="4069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Picked by rule: most negative contralateral ERD among significant bands.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Absent: three examples</a:t>
            </a:r>
            <a:endParaRPr lang="en-US" sz="3600" dirty="0"/>
          </a:p>
        </p:txBody>
      </p:sp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No band-limited drop after the cue; absent means not detected</a:t>
            </a:r>
            <a:endParaRPr lang="en-US" sz="1600" dirty="0"/>
          </a:p>
        </p:txBody>
      </p:sp>
      <p:pic>
        <p:nvPicPr>
          <p:cNvPr id="4" name="Absent examples" descr="Time-frequency maps of subjects S99, S87 and S101 showing no consistent power drop after the c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4754880" cy="304102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40680" y="155448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S99: μ p 0.84, β p 0.66. Dark red bursts are artefacts that nothing rejected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S87: μ p 0.63, β p 0.63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S101: μ p 0.76, β p 0.59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40680" y="30632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With about 45 trials per subject only a clear effect is detectable. Absent is not proof of no ERD.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40680" y="4069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Picked by rule: the three absent subjects with the highest 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Where the label is weak</a:t>
            </a:r>
            <a:endParaRPr lang="en-US" sz="3600" dirty="0"/>
          </a:p>
        </p:txBody>
      </p:sp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Four things to keep in mind when reading the per-subject table</a:t>
            </a:r>
            <a:endParaRPr lang="en-US" sz="1600" dirty="0"/>
          </a:p>
        </p:txBody>
      </p:sp>
      <p:sp>
        <p:nvSpPr>
          <p:cNvPr id="4" name="Caveat 1"/>
          <p:cNvSpPr/>
          <p:nvPr/>
        </p:nvSpPr>
        <p:spPr>
          <a:xfrm>
            <a:off x="457200" y="15544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5" name="Caveat 1 badge"/>
          <p:cNvSpPr/>
          <p:nvPr/>
        </p:nvSpPr>
        <p:spPr>
          <a:xfrm>
            <a:off x="640080" y="1719072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7190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 = 1 can mean synchronisation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S85, S92 and S95 reach LI = 1 in both bands, S108 in β: their ipsilateral power rose above 0 dB.</a:t>
            </a:r>
            <a:endParaRPr lang="en-US" sz="1600" dirty="0"/>
          </a:p>
        </p:txBody>
      </p:sp>
      <p:sp>
        <p:nvSpPr>
          <p:cNvPr id="9" name="Caveat 2"/>
          <p:cNvSpPr/>
          <p:nvPr/>
        </p:nvSpPr>
        <p:spPr>
          <a:xfrm>
            <a:off x="4663440" y="15544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0" name="Caveat 2 badge"/>
          <p:cNvSpPr/>
          <p:nvPr/>
        </p:nvSpPr>
        <p:spPr>
          <a:xfrm>
            <a:off x="4846320" y="1719072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7190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band can carry the label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12140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S89 has μ LI −0.01 and passes on β alone. S102 desynchronises on both sides yet passes on β.</a:t>
            </a:r>
            <a:endParaRPr lang="en-US" sz="1600" dirty="0"/>
          </a:p>
        </p:txBody>
      </p:sp>
      <p:sp>
        <p:nvSpPr>
          <p:cNvPr id="14" name="Caveat 3"/>
          <p:cNvSpPr/>
          <p:nvPr/>
        </p:nvSpPr>
        <p:spPr>
          <a:xfrm>
            <a:off x="457200" y="310896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5" name="Caveat 3 badge"/>
          <p:cNvSpPr/>
          <p:nvPr/>
        </p:nvSpPr>
        <p:spPr>
          <a:xfrm>
            <a:off x="640080" y="3273552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2735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reference changes the count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758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12 present with raw, 14 with Laplacian, 16 with CAR. Borderline subjects flip with the filter.</a:t>
            </a:r>
            <a:endParaRPr lang="en-US" sz="1600" dirty="0"/>
          </a:p>
        </p:txBody>
      </p:sp>
      <p:sp>
        <p:nvSpPr>
          <p:cNvPr id="19" name="Caveat 4"/>
          <p:cNvSpPr/>
          <p:nvPr/>
        </p:nvSpPr>
        <p:spPr>
          <a:xfrm>
            <a:off x="4663440" y="310896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0" name="Caveat 4 badge"/>
          <p:cNvSpPr/>
          <p:nvPr/>
        </p:nvSpPr>
        <p:spPr>
          <a:xfrm>
            <a:off x="4846320" y="3273552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46320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2735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artefact rejection yet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6758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Heavy trials can dominate the means (S99, S95 at C3). Decision D7; revisit if A3 or Part B needs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Hand-off to A3 and Part B</a:t>
            </a:r>
            <a:endParaRPr lang="en-US" sz="3600" dirty="0"/>
          </a:p>
        </p:txBody>
      </p:sp>
      <p:sp>
        <p:nvSpPr>
          <p:cNvPr id="3" name="Text 1"/>
          <p:cNvSpPr txBox="1"/>
          <p:nvPr>
            <p:ph idx="102" type="body" hasCustomPrompt="1"/>
          </p:nvPr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What A2 produced, and what is blocked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Outputs</a:t>
            </a:r>
            <a:endParaRPr lang="en-US" sz="1600" dirty="0"/>
          </a:p>
        </p:txBody>
      </p:sp>
      <p:sp>
        <p:nvSpPr>
          <p:cNvPr id="5" name="Output 1"/>
          <p:cNvSpPr/>
          <p:nvPr/>
        </p:nvSpPr>
        <p:spPr>
          <a:xfrm>
            <a:off x="457200" y="1920240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9339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a2_lateralisation.csv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LI, p-value and label per subject</a:t>
            </a:r>
            <a:endParaRPr lang="en-US" sz="1400" dirty="0"/>
          </a:p>
        </p:txBody>
      </p:sp>
      <p:sp>
        <p:nvSpPr>
          <p:cNvPr id="7" name="Output 2"/>
          <p:cNvSpPr/>
          <p:nvPr/>
        </p:nvSpPr>
        <p:spPr>
          <a:xfrm>
            <a:off x="457200" y="2743200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8163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erd/S070 … S109.png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one ERD map per subject</a:t>
            </a:r>
            <a:endParaRPr lang="en-US" sz="1400" dirty="0"/>
          </a:p>
        </p:txBody>
      </p:sp>
      <p:sp>
        <p:nvSpPr>
          <p:cNvPr id="9" name="Output 3"/>
          <p:cNvSpPr/>
          <p:nvPr/>
        </p:nvSpPr>
        <p:spPr>
          <a:xfrm>
            <a:off x="457200" y="3566160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63931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a2_examples_3present_3absent.png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six example subjects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Next</a:t>
            </a:r>
            <a:endParaRPr lang="en-US" sz="1600" dirty="0"/>
          </a:p>
        </p:txBody>
      </p:sp>
      <p:sp>
        <p:nvSpPr>
          <p:cNvPr id="12" name="Part B card"/>
          <p:cNvSpPr/>
          <p:nvPr/>
        </p:nvSpPr>
        <p:spPr>
          <a:xfrm>
            <a:off x="4754880" y="192024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20116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Part 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Each test subject's accuracy is correlated with their LI.</a:t>
            </a:r>
            <a:endParaRPr lang="en-US" sz="1400" dirty="0"/>
          </a:p>
        </p:txBody>
      </p:sp>
      <p:sp>
        <p:nvSpPr>
          <p:cNvPr id="14" name="A3 gate card"/>
          <p:cNvSpPr/>
          <p:nvPr/>
        </p:nvSpPr>
        <p:spPr>
          <a:xfrm>
            <a:off x="4754880" y="3063240"/>
            <a:ext cx="3931920" cy="1325880"/>
          </a:xfrm>
          <a:prstGeom prst="roundRect">
            <a:avLst>
              <a:gd name="adj" fmla="val 5517"/>
            </a:avLst>
          </a:prstGeom>
          <a:solidFill>
            <a:schemeClr val="bg1">
              <a:alpha val="10000"/>
            </a:schemeClr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3154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A3 is blocked on one thing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prediction must be Keyen’s own words, committed before any confound decoder runs. The current PREDICTIONS.md entry is a Claude draft.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2 Neuro">
  <a:themeElements>
    <a:clrScheme name="A2 Neuro">
      <a:dk1>
        <a:srgbClr val="1B2438"/>
      </a:dk1>
      <a:lt1>
        <a:srgbClr val="FFFFFF"/>
      </a:lt1>
      <a:dk2>
        <a:srgbClr val="14213D"/>
      </a:dk2>
      <a:lt2>
        <a:srgbClr val="EEF2F8"/>
      </a:lt2>
      <a:accent1>
        <a:srgbClr val="2F7FD0"/>
      </a:accent1>
      <a:accent2>
        <a:srgbClr val="B2182B"/>
      </a:accent2>
      <a:accent3>
        <a:srgbClr val="5B6B8C"/>
      </a:accent3>
      <a:accent4>
        <a:srgbClr val="E0A458"/>
      </a:accent4>
      <a:accent5>
        <a:srgbClr val="2A9D8F"/>
      </a:accent5>
      <a:accent6>
        <a:srgbClr val="8A93A6"/>
      </a:accent6>
      <a:hlink>
        <a:srgbClr val="2F7FD0"/>
      </a:hlink>
      <a:folHlink>
        <a:srgbClr val="5B6B8C"/>
      </a:folHlink>
    </a:clrScheme>
    <a:fontScheme name="A2 Neur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 Physiological ground truth</dc:title>
  <dc:subject>PptxGenJS Presentation</dc:subject>
  <dc:creator>Keyen</dc:creator>
  <cp:lastModifiedBy>Keyen</cp:lastModifiedBy>
  <cp:revision>1</cp:revision>
  <dcterms:created xsi:type="dcterms:W3CDTF">2026-10-07T10:54:43Z</dcterms:created>
  <dcterms:modified xsi:type="dcterms:W3CDTF">2026-10-07T10:54:43Z</dcterms:modified>
</cp:coreProperties>
</file>